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sldIdLst>
    <p:sldId id="256" r:id="rId2"/>
    <p:sldId id="265" r:id="rId3"/>
    <p:sldId id="257" r:id="rId4"/>
    <p:sldId id="258" r:id="rId5"/>
    <p:sldId id="260" r:id="rId6"/>
    <p:sldId id="259" r:id="rId7"/>
    <p:sldId id="278" r:id="rId8"/>
    <p:sldId id="277" r:id="rId9"/>
    <p:sldId id="266" r:id="rId10"/>
    <p:sldId id="267" r:id="rId11"/>
    <p:sldId id="273" r:id="rId12"/>
    <p:sldId id="268" r:id="rId13"/>
    <p:sldId id="269" r:id="rId14"/>
    <p:sldId id="270" r:id="rId15"/>
    <p:sldId id="262" r:id="rId16"/>
    <p:sldId id="271" r:id="rId17"/>
    <p:sldId id="274" r:id="rId18"/>
    <p:sldId id="275" r:id="rId19"/>
    <p:sldId id="276" r:id="rId20"/>
    <p:sldId id="263" r:id="rId21"/>
    <p:sldId id="264" r:id="rId22"/>
    <p:sldId id="272"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309" autoAdjust="0"/>
    <p:restoredTop sz="94660"/>
  </p:normalViewPr>
  <p:slideViewPr>
    <p:cSldViewPr snapToGrid="0">
      <p:cViewPr varScale="1">
        <p:scale>
          <a:sx n="72" d="100"/>
          <a:sy n="72" d="100"/>
        </p:scale>
        <p:origin x="48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ADDF498-D638-426E-93E9-5F52D12995AE}" type="datetimeFigureOut">
              <a:rPr lang="en-US" smtClean="0"/>
              <a:t>3/6/2019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6B46D-7C7F-4B42-917F-8A366654C71C}" type="slidenum">
              <a:rPr lang="en-US" smtClean="0"/>
              <a:t>‹#›</a:t>
            </a:fld>
            <a:endParaRPr lang="en-US"/>
          </a:p>
        </p:txBody>
      </p:sp>
    </p:spTree>
    <p:extLst>
      <p:ext uri="{BB962C8B-B14F-4D97-AF65-F5344CB8AC3E}">
        <p14:creationId xmlns:p14="http://schemas.microsoft.com/office/powerpoint/2010/main" val="923608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CADDF498-D638-426E-93E9-5F52D12995AE}" type="datetimeFigureOut">
              <a:rPr lang="en-US" smtClean="0"/>
              <a:t>3/6/2019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6B46D-7C7F-4B42-917F-8A366654C71C}" type="slidenum">
              <a:rPr lang="en-US" smtClean="0"/>
              <a:t>‹#›</a:t>
            </a:fld>
            <a:endParaRPr lang="en-US"/>
          </a:p>
        </p:txBody>
      </p:sp>
    </p:spTree>
    <p:extLst>
      <p:ext uri="{BB962C8B-B14F-4D97-AF65-F5344CB8AC3E}">
        <p14:creationId xmlns:p14="http://schemas.microsoft.com/office/powerpoint/2010/main" val="2396373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DDF498-D638-426E-93E9-5F52D12995AE}" type="datetimeFigureOut">
              <a:rPr lang="en-US" smtClean="0"/>
              <a:t>3/6/2019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6B46D-7C7F-4B42-917F-8A366654C71C}" type="slidenum">
              <a:rPr lang="en-US" smtClean="0"/>
              <a:t>‹#›</a:t>
            </a:fld>
            <a:endParaRPr lang="en-US"/>
          </a:p>
        </p:txBody>
      </p:sp>
    </p:spTree>
    <p:extLst>
      <p:ext uri="{BB962C8B-B14F-4D97-AF65-F5344CB8AC3E}">
        <p14:creationId xmlns:p14="http://schemas.microsoft.com/office/powerpoint/2010/main" val="1792448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DDF498-D638-426E-93E9-5F52D12995AE}" type="datetimeFigureOut">
              <a:rPr lang="en-US" smtClean="0"/>
              <a:t>3/6/2019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6B46D-7C7F-4B42-917F-8A366654C71C}" type="slidenum">
              <a:rPr lang="en-US" smtClean="0"/>
              <a:t>‹#›</a:t>
            </a:fld>
            <a:endParaRPr lang="en-US"/>
          </a:p>
        </p:txBody>
      </p:sp>
    </p:spTree>
    <p:extLst>
      <p:ext uri="{BB962C8B-B14F-4D97-AF65-F5344CB8AC3E}">
        <p14:creationId xmlns:p14="http://schemas.microsoft.com/office/powerpoint/2010/main" val="2103511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ADDF498-D638-426E-93E9-5F52D12995AE}" type="datetimeFigureOut">
              <a:rPr lang="en-US" smtClean="0"/>
              <a:t>3/6/2019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26B46D-7C7F-4B42-917F-8A366654C71C}" type="slidenum">
              <a:rPr lang="en-US" smtClean="0"/>
              <a:t>‹#›</a:t>
            </a:fld>
            <a:endParaRPr lang="en-US"/>
          </a:p>
        </p:txBody>
      </p:sp>
    </p:spTree>
    <p:extLst>
      <p:ext uri="{BB962C8B-B14F-4D97-AF65-F5344CB8AC3E}">
        <p14:creationId xmlns:p14="http://schemas.microsoft.com/office/powerpoint/2010/main" val="1990464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CADDF498-D638-426E-93E9-5F52D12995AE}" type="datetimeFigureOut">
              <a:rPr lang="en-US" smtClean="0"/>
              <a:t>3/6/2019</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6E26B46D-7C7F-4B42-917F-8A366654C71C}" type="slidenum">
              <a:rPr lang="en-US" smtClean="0"/>
              <a:t>‹#›</a:t>
            </a:fld>
            <a:endParaRPr lang="en-US"/>
          </a:p>
        </p:txBody>
      </p:sp>
    </p:spTree>
    <p:extLst>
      <p:ext uri="{BB962C8B-B14F-4D97-AF65-F5344CB8AC3E}">
        <p14:creationId xmlns:p14="http://schemas.microsoft.com/office/powerpoint/2010/main" val="2035168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ADDF498-D638-426E-93E9-5F52D12995AE}" type="datetimeFigureOut">
              <a:rPr lang="en-US" smtClean="0"/>
              <a:t>3/6/2019</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6E26B46D-7C7F-4B42-917F-8A366654C71C}" type="slidenum">
              <a:rPr lang="en-US" smtClean="0"/>
              <a:t>‹#›</a:t>
            </a:fld>
            <a:endParaRPr lang="en-US"/>
          </a:p>
        </p:txBody>
      </p:sp>
    </p:spTree>
    <p:extLst>
      <p:ext uri="{BB962C8B-B14F-4D97-AF65-F5344CB8AC3E}">
        <p14:creationId xmlns:p14="http://schemas.microsoft.com/office/powerpoint/2010/main" val="1339996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CADDF498-D638-426E-93E9-5F52D12995AE}" type="datetimeFigureOut">
              <a:rPr lang="en-US" smtClean="0"/>
              <a:t>3/6/2019</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6E26B46D-7C7F-4B42-917F-8A366654C71C}" type="slidenum">
              <a:rPr lang="en-US" smtClean="0"/>
              <a:t>‹#›</a:t>
            </a:fld>
            <a:endParaRPr lang="en-US"/>
          </a:p>
        </p:txBody>
      </p:sp>
    </p:spTree>
    <p:extLst>
      <p:ext uri="{BB962C8B-B14F-4D97-AF65-F5344CB8AC3E}">
        <p14:creationId xmlns:p14="http://schemas.microsoft.com/office/powerpoint/2010/main" val="3751107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ADDF498-D638-426E-93E9-5F52D12995AE}" type="datetimeFigureOut">
              <a:rPr lang="en-US" smtClean="0"/>
              <a:t>3/6/2019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6B46D-7C7F-4B42-917F-8A366654C71C}" type="slidenum">
              <a:rPr lang="en-US" smtClean="0"/>
              <a:t>‹#›</a:t>
            </a:fld>
            <a:endParaRPr lang="en-US"/>
          </a:p>
        </p:txBody>
      </p:sp>
    </p:spTree>
    <p:extLst>
      <p:ext uri="{BB962C8B-B14F-4D97-AF65-F5344CB8AC3E}">
        <p14:creationId xmlns:p14="http://schemas.microsoft.com/office/powerpoint/2010/main" val="2066619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ADDF498-D638-426E-93E9-5F52D12995AE}" type="datetimeFigureOut">
              <a:rPr lang="en-US" smtClean="0"/>
              <a:t>3/6/2019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6B46D-7C7F-4B42-917F-8A366654C71C}" type="slidenum">
              <a:rPr lang="en-US" smtClean="0"/>
              <a:t>‹#›</a:t>
            </a:fld>
            <a:endParaRPr lang="en-US"/>
          </a:p>
        </p:txBody>
      </p:sp>
    </p:spTree>
    <p:extLst>
      <p:ext uri="{BB962C8B-B14F-4D97-AF65-F5344CB8AC3E}">
        <p14:creationId xmlns:p14="http://schemas.microsoft.com/office/powerpoint/2010/main" val="1032790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CADDF498-D638-426E-93E9-5F52D12995AE}" type="datetimeFigureOut">
              <a:rPr lang="en-US" smtClean="0"/>
              <a:t>3/6/2019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6B46D-7C7F-4B42-917F-8A366654C71C}" type="slidenum">
              <a:rPr lang="en-US" smtClean="0"/>
              <a:t>‹#›</a:t>
            </a:fld>
            <a:endParaRPr lang="en-US"/>
          </a:p>
        </p:txBody>
      </p:sp>
    </p:spTree>
    <p:extLst>
      <p:ext uri="{BB962C8B-B14F-4D97-AF65-F5344CB8AC3E}">
        <p14:creationId xmlns:p14="http://schemas.microsoft.com/office/powerpoint/2010/main" val="7004235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CADDF498-D638-426E-93E9-5F52D12995AE}" type="datetimeFigureOut">
              <a:rPr lang="en-US" smtClean="0"/>
              <a:t>3/6/2019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6B46D-7C7F-4B42-917F-8A366654C71C}"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9804166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DDF498-D638-426E-93E9-5F52D12995AE}" type="datetimeFigureOut">
              <a:rPr lang="en-US" smtClean="0"/>
              <a:t>3/6/2019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6B46D-7C7F-4B42-917F-8A366654C71C}" type="slidenum">
              <a:rPr lang="en-US" smtClean="0"/>
              <a:t>‹#›</a:t>
            </a:fld>
            <a:endParaRPr lang="en-US"/>
          </a:p>
        </p:txBody>
      </p:sp>
    </p:spTree>
    <p:extLst>
      <p:ext uri="{BB962C8B-B14F-4D97-AF65-F5344CB8AC3E}">
        <p14:creationId xmlns:p14="http://schemas.microsoft.com/office/powerpoint/2010/main" val="22638665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ADDF498-D638-426E-93E9-5F52D12995AE}" type="datetimeFigureOut">
              <a:rPr lang="en-US" smtClean="0"/>
              <a:t>3/6/2019</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6B46D-7C7F-4B42-917F-8A366654C71C}" type="slidenum">
              <a:rPr lang="en-US" smtClean="0"/>
              <a:t>‹#›</a:t>
            </a:fld>
            <a:endParaRPr lang="en-US"/>
          </a:p>
        </p:txBody>
      </p:sp>
    </p:spTree>
    <p:extLst>
      <p:ext uri="{BB962C8B-B14F-4D97-AF65-F5344CB8AC3E}">
        <p14:creationId xmlns:p14="http://schemas.microsoft.com/office/powerpoint/2010/main" val="30248388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ADDF498-D638-426E-93E9-5F52D12995AE}" type="datetimeFigureOut">
              <a:rPr lang="en-US" smtClean="0"/>
              <a:t>3/6/2019</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6B46D-7C7F-4B42-917F-8A366654C71C}" type="slidenum">
              <a:rPr lang="en-US" smtClean="0"/>
              <a:t>‹#›</a:t>
            </a:fld>
            <a:endParaRPr lang="en-US"/>
          </a:p>
        </p:txBody>
      </p:sp>
    </p:spTree>
    <p:extLst>
      <p:ext uri="{BB962C8B-B14F-4D97-AF65-F5344CB8AC3E}">
        <p14:creationId xmlns:p14="http://schemas.microsoft.com/office/powerpoint/2010/main" val="29811635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DDF498-D638-426E-93E9-5F52D12995AE}" type="datetimeFigureOut">
              <a:rPr lang="en-US" smtClean="0"/>
              <a:t>3/6/2019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6B46D-7C7F-4B42-917F-8A366654C71C}" type="slidenum">
              <a:rPr lang="en-US" smtClean="0"/>
              <a:t>‹#›</a:t>
            </a:fld>
            <a:endParaRPr lang="en-US"/>
          </a:p>
        </p:txBody>
      </p:sp>
    </p:spTree>
    <p:extLst>
      <p:ext uri="{BB962C8B-B14F-4D97-AF65-F5344CB8AC3E}">
        <p14:creationId xmlns:p14="http://schemas.microsoft.com/office/powerpoint/2010/main" val="39132112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DDF498-D638-426E-93E9-5F52D12995AE}" type="datetimeFigureOut">
              <a:rPr lang="en-US" smtClean="0"/>
              <a:t>3/6/2019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6B46D-7C7F-4B42-917F-8A366654C71C}" type="slidenum">
              <a:rPr lang="en-US" smtClean="0"/>
              <a:t>‹#›</a:t>
            </a:fld>
            <a:endParaRPr lang="en-US"/>
          </a:p>
        </p:txBody>
      </p:sp>
    </p:spTree>
    <p:extLst>
      <p:ext uri="{BB962C8B-B14F-4D97-AF65-F5344CB8AC3E}">
        <p14:creationId xmlns:p14="http://schemas.microsoft.com/office/powerpoint/2010/main" val="4208793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ADDF498-D638-426E-93E9-5F52D12995AE}" type="datetimeFigureOut">
              <a:rPr lang="en-US" smtClean="0"/>
              <a:t>3/6/2019</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E26B46D-7C7F-4B42-917F-8A366654C71C}" type="slidenum">
              <a:rPr lang="en-US" smtClean="0"/>
              <a:t>‹#›</a:t>
            </a:fld>
            <a:endParaRPr lang="en-US"/>
          </a:p>
        </p:txBody>
      </p:sp>
    </p:spTree>
    <p:extLst>
      <p:ext uri="{BB962C8B-B14F-4D97-AF65-F5344CB8AC3E}">
        <p14:creationId xmlns:p14="http://schemas.microsoft.com/office/powerpoint/2010/main" val="892317517"/>
      </p:ext>
    </p:extLst>
  </p:cSld>
  <p:clrMap bg1="dk1" tx1="lt1" bg2="dk2" tx2="lt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21AF9-ACD5-49C2-A1C6-351177A31376}"/>
              </a:ext>
            </a:extLst>
          </p:cNvPr>
          <p:cNvSpPr>
            <a:spLocks noGrp="1"/>
          </p:cNvSpPr>
          <p:nvPr>
            <p:ph type="ctrTitle"/>
          </p:nvPr>
        </p:nvSpPr>
        <p:spPr>
          <a:xfrm>
            <a:off x="1154955" y="415829"/>
            <a:ext cx="8825658" cy="3329581"/>
          </a:xfrm>
        </p:spPr>
        <p:txBody>
          <a:bodyPr>
            <a:normAutofit fontScale="90000"/>
          </a:bodyPr>
          <a:lstStyle/>
          <a:p>
            <a:pPr algn="ctr"/>
            <a:r>
              <a:rPr lang="en-US" dirty="0"/>
              <a:t>Finding Next Leader </a:t>
            </a:r>
            <a:br>
              <a:rPr lang="en-US" dirty="0"/>
            </a:br>
            <a:endParaRPr lang="en-US" dirty="0"/>
          </a:p>
        </p:txBody>
      </p:sp>
      <p:sp>
        <p:nvSpPr>
          <p:cNvPr id="3" name="Subtitle 2">
            <a:extLst>
              <a:ext uri="{FF2B5EF4-FFF2-40B4-BE49-F238E27FC236}">
                <a16:creationId xmlns:a16="http://schemas.microsoft.com/office/drawing/2014/main" id="{51291D7D-3710-4C54-B202-5BDCB01AF3E0}"/>
              </a:ext>
            </a:extLst>
          </p:cNvPr>
          <p:cNvSpPr>
            <a:spLocks noGrp="1"/>
          </p:cNvSpPr>
          <p:nvPr>
            <p:ph type="subTitle" idx="1"/>
          </p:nvPr>
        </p:nvSpPr>
        <p:spPr>
          <a:xfrm>
            <a:off x="1154955" y="3745410"/>
            <a:ext cx="8825658" cy="861420"/>
          </a:xfrm>
        </p:spPr>
        <p:txBody>
          <a:bodyPr/>
          <a:lstStyle/>
          <a:p>
            <a:pPr algn="ctr"/>
            <a:r>
              <a:rPr lang="en-US" dirty="0"/>
              <a:t>Eager to know who is going to lead us ?!</a:t>
            </a:r>
          </a:p>
          <a:p>
            <a:endParaRPr lang="en-US" dirty="0"/>
          </a:p>
        </p:txBody>
      </p:sp>
      <p:sp>
        <p:nvSpPr>
          <p:cNvPr id="4" name="Rectangle 3">
            <a:extLst>
              <a:ext uri="{FF2B5EF4-FFF2-40B4-BE49-F238E27FC236}">
                <a16:creationId xmlns:a16="http://schemas.microsoft.com/office/drawing/2014/main" id="{3A04D86A-1753-4B86-9F5C-D05F619DFADA}"/>
              </a:ext>
            </a:extLst>
          </p:cNvPr>
          <p:cNvSpPr/>
          <p:nvPr/>
        </p:nvSpPr>
        <p:spPr>
          <a:xfrm>
            <a:off x="6880536" y="5257800"/>
            <a:ext cx="5160387" cy="1200329"/>
          </a:xfrm>
          <a:prstGeom prst="rect">
            <a:avLst/>
          </a:prstGeom>
          <a:noFill/>
        </p:spPr>
        <p:txBody>
          <a:bodyPr wrap="none" lIns="91440" tIns="45720" rIns="91440" bIns="45720">
            <a:spAutoFit/>
          </a:bodyPr>
          <a:lstStyle/>
          <a:p>
            <a:r>
              <a:rPr lang="en-US" dirty="0" err="1"/>
              <a:t>Cheruvu</a:t>
            </a:r>
            <a:r>
              <a:rPr lang="en-US" dirty="0"/>
              <a:t> Lakshmi </a:t>
            </a:r>
            <a:r>
              <a:rPr lang="en-US" dirty="0" err="1"/>
              <a:t>Manasa</a:t>
            </a:r>
            <a:r>
              <a:rPr lang="en-US" dirty="0"/>
              <a:t>	    -	1210315711</a:t>
            </a:r>
          </a:p>
          <a:p>
            <a:r>
              <a:rPr lang="en-US" dirty="0"/>
              <a:t>Ramya gana sree Dulla         	    -	1210315706</a:t>
            </a:r>
          </a:p>
          <a:p>
            <a:r>
              <a:rPr lang="en-US" dirty="0" err="1"/>
              <a:t>Mathukumilli</a:t>
            </a:r>
            <a:r>
              <a:rPr lang="en-US" dirty="0"/>
              <a:t> Jaya Venkatesh    -	1210315761</a:t>
            </a:r>
          </a:p>
          <a:p>
            <a:r>
              <a:rPr lang="en-US" dirty="0"/>
              <a:t>Lokesh </a:t>
            </a:r>
            <a:r>
              <a:rPr lang="en-US" dirty="0" err="1"/>
              <a:t>Pepala</a:t>
            </a:r>
            <a:r>
              <a:rPr lang="en-US" dirty="0"/>
              <a:t>                              -	1210315735</a:t>
            </a:r>
          </a:p>
        </p:txBody>
      </p:sp>
    </p:spTree>
    <p:extLst>
      <p:ext uri="{BB962C8B-B14F-4D97-AF65-F5344CB8AC3E}">
        <p14:creationId xmlns:p14="http://schemas.microsoft.com/office/powerpoint/2010/main" val="1835454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0EA64-845B-4D3C-8F2C-88CF9B7E03B4}"/>
              </a:ext>
            </a:extLst>
          </p:cNvPr>
          <p:cNvSpPr>
            <a:spLocks noGrp="1"/>
          </p:cNvSpPr>
          <p:nvPr>
            <p:ph type="title"/>
          </p:nvPr>
        </p:nvSpPr>
        <p:spPr/>
        <p:txBody>
          <a:bodyPr/>
          <a:lstStyle/>
          <a:p>
            <a:r>
              <a:rPr lang="en-US" dirty="0"/>
              <a:t>Abstract </a:t>
            </a:r>
          </a:p>
        </p:txBody>
      </p:sp>
      <p:sp>
        <p:nvSpPr>
          <p:cNvPr id="3" name="Content Placeholder 2">
            <a:extLst>
              <a:ext uri="{FF2B5EF4-FFF2-40B4-BE49-F238E27FC236}">
                <a16:creationId xmlns:a16="http://schemas.microsoft.com/office/drawing/2014/main" id="{C3BE41B9-FF82-490E-A1A3-F619DF85B916}"/>
              </a:ext>
            </a:extLst>
          </p:cNvPr>
          <p:cNvSpPr>
            <a:spLocks noGrp="1"/>
          </p:cNvSpPr>
          <p:nvPr>
            <p:ph idx="1"/>
          </p:nvPr>
        </p:nvSpPr>
        <p:spPr>
          <a:xfrm>
            <a:off x="838200" y="2040834"/>
            <a:ext cx="10515600" cy="3579537"/>
          </a:xfrm>
        </p:spPr>
        <p:txBody>
          <a:bodyPr>
            <a:normAutofit/>
          </a:bodyPr>
          <a:lstStyle/>
          <a:p>
            <a:pPr>
              <a:lnSpc>
                <a:spcPct val="150000"/>
              </a:lnSpc>
              <a:buFont typeface="Wingdings" panose="05000000000000000000" pitchFamily="2" charset="2"/>
              <a:buChar char="§"/>
            </a:pPr>
            <a:r>
              <a:rPr lang="en-US" dirty="0"/>
              <a:t>Sentimental analysis is the concept used for finding next leader. Analyzing the collected twitter data and finding a sentiment to know who is going to be our next leader.</a:t>
            </a:r>
          </a:p>
          <a:p>
            <a:pPr>
              <a:lnSpc>
                <a:spcPct val="150000"/>
              </a:lnSpc>
              <a:buFont typeface="Wingdings" panose="05000000000000000000" pitchFamily="2" charset="2"/>
              <a:buChar char="§"/>
            </a:pPr>
            <a:r>
              <a:rPr lang="en-US" dirty="0"/>
              <a:t>In this project, we extract the information from Tweets in Twitter and perform Sentiment Analysis on Twitter data. We will be getting to know about the Positive and Negative Tweets on Political Leader</a:t>
            </a:r>
          </a:p>
        </p:txBody>
      </p:sp>
    </p:spTree>
    <p:extLst>
      <p:ext uri="{BB962C8B-B14F-4D97-AF65-F5344CB8AC3E}">
        <p14:creationId xmlns:p14="http://schemas.microsoft.com/office/powerpoint/2010/main" val="3083949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FA0F9-F709-4757-B89A-7D42ADA1BBA8}"/>
              </a:ext>
            </a:extLst>
          </p:cNvPr>
          <p:cNvSpPr>
            <a:spLocks noGrp="1"/>
          </p:cNvSpPr>
          <p:nvPr>
            <p:ph type="title"/>
          </p:nvPr>
        </p:nvSpPr>
        <p:spPr>
          <a:xfrm>
            <a:off x="838200" y="365126"/>
            <a:ext cx="10515600" cy="893832"/>
          </a:xfrm>
        </p:spPr>
        <p:txBody>
          <a:bodyPr/>
          <a:lstStyle/>
          <a:p>
            <a:r>
              <a:rPr lang="en-US" dirty="0"/>
              <a:t>Topics</a:t>
            </a:r>
          </a:p>
        </p:txBody>
      </p:sp>
      <p:sp>
        <p:nvSpPr>
          <p:cNvPr id="3" name="Content Placeholder 2">
            <a:extLst>
              <a:ext uri="{FF2B5EF4-FFF2-40B4-BE49-F238E27FC236}">
                <a16:creationId xmlns:a16="http://schemas.microsoft.com/office/drawing/2014/main" id="{C3B9B1F1-D74B-48C0-B71E-C8976F34DC1F}"/>
              </a:ext>
            </a:extLst>
          </p:cNvPr>
          <p:cNvSpPr>
            <a:spLocks noGrp="1"/>
          </p:cNvSpPr>
          <p:nvPr>
            <p:ph idx="1"/>
          </p:nvPr>
        </p:nvSpPr>
        <p:spPr>
          <a:xfrm>
            <a:off x="702365" y="1258958"/>
            <a:ext cx="10651435" cy="5599042"/>
          </a:xfrm>
        </p:spPr>
        <p:txBody>
          <a:bodyPr numCol="3">
            <a:normAutofit/>
          </a:bodyPr>
          <a:lstStyle/>
          <a:p>
            <a:r>
              <a:rPr lang="en-US" sz="1800" dirty="0"/>
              <a:t>Introduction</a:t>
            </a:r>
          </a:p>
          <a:p>
            <a:r>
              <a:rPr lang="en-US" sz="1800" dirty="0"/>
              <a:t>Motivation </a:t>
            </a:r>
          </a:p>
          <a:p>
            <a:r>
              <a:rPr lang="en-US" sz="1800" dirty="0"/>
              <a:t>Literature Survey</a:t>
            </a:r>
          </a:p>
          <a:p>
            <a:r>
              <a:rPr lang="en-US" sz="1800" dirty="0"/>
              <a:t>Requirements</a:t>
            </a:r>
          </a:p>
          <a:p>
            <a:r>
              <a:rPr lang="en-US" sz="1800" dirty="0"/>
              <a:t>Methodology </a:t>
            </a:r>
          </a:p>
          <a:p>
            <a:pPr marL="0" indent="0" algn="just">
              <a:lnSpc>
                <a:spcPct val="100000"/>
              </a:lnSpc>
              <a:buNone/>
            </a:pPr>
            <a:r>
              <a:rPr lang="en-US" sz="1800" dirty="0"/>
              <a:t>	Data Collection</a:t>
            </a:r>
          </a:p>
          <a:p>
            <a:pPr marL="0" indent="0" algn="just">
              <a:lnSpc>
                <a:spcPct val="100000"/>
              </a:lnSpc>
              <a:buNone/>
            </a:pPr>
            <a:r>
              <a:rPr lang="en-US" sz="1800" dirty="0"/>
              <a:t>	Data Processing</a:t>
            </a:r>
          </a:p>
          <a:p>
            <a:pPr marL="0" indent="0" algn="just">
              <a:lnSpc>
                <a:spcPct val="100000"/>
              </a:lnSpc>
              <a:buNone/>
            </a:pPr>
            <a:r>
              <a:rPr lang="en-US" sz="1800" dirty="0"/>
              <a:t>	Data Filtering</a:t>
            </a:r>
          </a:p>
          <a:p>
            <a:pPr marL="0" indent="0" algn="just">
              <a:lnSpc>
                <a:spcPct val="100000"/>
              </a:lnSpc>
              <a:buNone/>
            </a:pPr>
            <a:r>
              <a:rPr lang="en-US" sz="1800" dirty="0"/>
              <a:t>	Data Extraction</a:t>
            </a:r>
          </a:p>
          <a:p>
            <a:pPr marL="0" indent="0">
              <a:buNone/>
            </a:pPr>
            <a:r>
              <a:rPr lang="en-US" sz="1800" dirty="0"/>
              <a:t>	Classification</a:t>
            </a:r>
          </a:p>
          <a:p>
            <a:pPr marL="0" indent="0">
              <a:buNone/>
            </a:pPr>
            <a:r>
              <a:rPr lang="en-US" sz="1800" dirty="0"/>
              <a:t>	Sentimental Analysis</a:t>
            </a:r>
          </a:p>
          <a:p>
            <a:r>
              <a:rPr lang="en-US" sz="1800" dirty="0"/>
              <a:t>Results and analysis</a:t>
            </a:r>
          </a:p>
          <a:p>
            <a:r>
              <a:rPr lang="en-US" sz="1800" dirty="0"/>
              <a:t>Conclusion</a:t>
            </a:r>
          </a:p>
          <a:p>
            <a:r>
              <a:rPr lang="en-US" sz="1800" dirty="0"/>
              <a:t>References</a:t>
            </a:r>
          </a:p>
        </p:txBody>
      </p:sp>
    </p:spTree>
    <p:extLst>
      <p:ext uri="{BB962C8B-B14F-4D97-AF65-F5344CB8AC3E}">
        <p14:creationId xmlns:p14="http://schemas.microsoft.com/office/powerpoint/2010/main" val="1789428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CB4D3-7A5F-4158-803F-F43E7E6CA324}"/>
              </a:ext>
            </a:extLst>
          </p:cNvPr>
          <p:cNvSpPr>
            <a:spLocks noGrp="1"/>
          </p:cNvSpPr>
          <p:nvPr>
            <p:ph type="title"/>
          </p:nvPr>
        </p:nvSpPr>
        <p:spPr>
          <a:xfrm>
            <a:off x="838200" y="325369"/>
            <a:ext cx="10515600" cy="1325563"/>
          </a:xfrm>
        </p:spPr>
        <p:txBody>
          <a:bodyPr/>
          <a:lstStyle/>
          <a:p>
            <a:r>
              <a:rPr lang="en-US" dirty="0"/>
              <a:t>Introduction</a:t>
            </a:r>
          </a:p>
        </p:txBody>
      </p:sp>
      <p:sp>
        <p:nvSpPr>
          <p:cNvPr id="3" name="Content Placeholder 2">
            <a:extLst>
              <a:ext uri="{FF2B5EF4-FFF2-40B4-BE49-F238E27FC236}">
                <a16:creationId xmlns:a16="http://schemas.microsoft.com/office/drawing/2014/main" id="{6FD82A1F-8ED8-43CA-AAA6-461A692DBF39}"/>
              </a:ext>
            </a:extLst>
          </p:cNvPr>
          <p:cNvSpPr>
            <a:spLocks noGrp="1"/>
          </p:cNvSpPr>
          <p:nvPr>
            <p:ph idx="1"/>
          </p:nvPr>
        </p:nvSpPr>
        <p:spPr>
          <a:xfrm>
            <a:off x="838200" y="2531165"/>
            <a:ext cx="10515600" cy="3645798"/>
          </a:xfrm>
        </p:spPr>
        <p:txBody>
          <a:bodyPr/>
          <a:lstStyle/>
          <a:p>
            <a:pPr>
              <a:lnSpc>
                <a:spcPct val="150000"/>
              </a:lnSpc>
            </a:pPr>
            <a:r>
              <a:rPr lang="en-US" dirty="0"/>
              <a:t>The sentiment analysis extracts positive and negative opinions from the twitter data set.</a:t>
            </a:r>
          </a:p>
          <a:p>
            <a:pPr>
              <a:lnSpc>
                <a:spcPct val="150000"/>
              </a:lnSpc>
            </a:pPr>
            <a:r>
              <a:rPr lang="en-US" dirty="0"/>
              <a:t>In this presentation, the sentiment analysis on twitters data using Python programming language in step by step approach.</a:t>
            </a:r>
          </a:p>
          <a:p>
            <a:endParaRPr lang="en-US" dirty="0"/>
          </a:p>
        </p:txBody>
      </p:sp>
    </p:spTree>
    <p:extLst>
      <p:ext uri="{BB962C8B-B14F-4D97-AF65-F5344CB8AC3E}">
        <p14:creationId xmlns:p14="http://schemas.microsoft.com/office/powerpoint/2010/main" val="1504360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3049F-3038-43A4-93EC-00EB3C1330E2}"/>
              </a:ext>
            </a:extLst>
          </p:cNvPr>
          <p:cNvSpPr>
            <a:spLocks noGrp="1"/>
          </p:cNvSpPr>
          <p:nvPr>
            <p:ph type="title"/>
          </p:nvPr>
        </p:nvSpPr>
        <p:spPr/>
        <p:txBody>
          <a:bodyPr/>
          <a:lstStyle/>
          <a:p>
            <a:r>
              <a:rPr lang="en-US" dirty="0"/>
              <a:t>Motivation: </a:t>
            </a:r>
          </a:p>
        </p:txBody>
      </p:sp>
      <p:sp>
        <p:nvSpPr>
          <p:cNvPr id="4" name="Content Placeholder 3">
            <a:extLst>
              <a:ext uri="{FF2B5EF4-FFF2-40B4-BE49-F238E27FC236}">
                <a16:creationId xmlns:a16="http://schemas.microsoft.com/office/drawing/2014/main" id="{484B8065-8AF6-483D-BEE4-65D4D3BE6D97}"/>
              </a:ext>
            </a:extLst>
          </p:cNvPr>
          <p:cNvSpPr>
            <a:spLocks noGrp="1"/>
          </p:cNvSpPr>
          <p:nvPr>
            <p:ph idx="1"/>
          </p:nvPr>
        </p:nvSpPr>
        <p:spPr>
          <a:xfrm>
            <a:off x="745435" y="2491409"/>
            <a:ext cx="10515600" cy="3725311"/>
          </a:xfrm>
        </p:spPr>
        <p:txBody>
          <a:bodyPr/>
          <a:lstStyle/>
          <a:p>
            <a:pPr>
              <a:lnSpc>
                <a:spcPct val="150000"/>
              </a:lnSpc>
            </a:pPr>
            <a:r>
              <a:rPr lang="en-US" dirty="0"/>
              <a:t>The work that was used in </a:t>
            </a:r>
            <a:r>
              <a:rPr lang="en-US" dirty="0" err="1"/>
              <a:t>MuSigma</a:t>
            </a:r>
            <a:r>
              <a:rPr lang="en-US" dirty="0"/>
              <a:t> that was used to know which topic were discussed on twitter more and in which way.</a:t>
            </a:r>
          </a:p>
          <a:p>
            <a:pPr>
              <a:lnSpc>
                <a:spcPct val="150000"/>
              </a:lnSpc>
            </a:pPr>
            <a:r>
              <a:rPr lang="en-US" dirty="0"/>
              <a:t>This project helps in people to predict the best leader to lead us in future. </a:t>
            </a:r>
          </a:p>
        </p:txBody>
      </p:sp>
    </p:spTree>
    <p:extLst>
      <p:ext uri="{BB962C8B-B14F-4D97-AF65-F5344CB8AC3E}">
        <p14:creationId xmlns:p14="http://schemas.microsoft.com/office/powerpoint/2010/main" val="1008982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279C6-2BDC-4F38-910B-858B266F6F2E}"/>
              </a:ext>
            </a:extLst>
          </p:cNvPr>
          <p:cNvSpPr>
            <a:spLocks noGrp="1"/>
          </p:cNvSpPr>
          <p:nvPr>
            <p:ph type="title"/>
          </p:nvPr>
        </p:nvSpPr>
        <p:spPr/>
        <p:txBody>
          <a:bodyPr/>
          <a:lstStyle/>
          <a:p>
            <a:r>
              <a:rPr lang="en-US" dirty="0"/>
              <a:t>Literature Survey 1:</a:t>
            </a:r>
          </a:p>
        </p:txBody>
      </p:sp>
      <p:sp>
        <p:nvSpPr>
          <p:cNvPr id="3" name="Content Placeholder 2">
            <a:extLst>
              <a:ext uri="{FF2B5EF4-FFF2-40B4-BE49-F238E27FC236}">
                <a16:creationId xmlns:a16="http://schemas.microsoft.com/office/drawing/2014/main" id="{DA9E1BA1-6683-447B-956E-5D5B2B925772}"/>
              </a:ext>
            </a:extLst>
          </p:cNvPr>
          <p:cNvSpPr>
            <a:spLocks noGrp="1"/>
          </p:cNvSpPr>
          <p:nvPr>
            <p:ph idx="1"/>
          </p:nvPr>
        </p:nvSpPr>
        <p:spPr/>
        <p:txBody>
          <a:bodyPr/>
          <a:lstStyle/>
          <a:p>
            <a:r>
              <a:rPr lang="en-US" dirty="0"/>
              <a:t>The author Adil </a:t>
            </a:r>
            <a:r>
              <a:rPr lang="en-US" dirty="0" err="1"/>
              <a:t>Moujahid</a:t>
            </a:r>
            <a:r>
              <a:rPr lang="en-US" dirty="0"/>
              <a:t> [1] proposed about data collection using twitter streaming application programming interface. This data can be used in different scenarios such as finding trends related to a specific keyword, measuring brand sentiment, and gathering feedback about new products and services.</a:t>
            </a:r>
          </a:p>
          <a:p>
            <a:r>
              <a:rPr lang="en-US" dirty="0"/>
              <a:t>In his work, the author compared the popularity of 3 programming languages: Python, JavaScript and Ruby, and to retrieve links to programming</a:t>
            </a:r>
          </a:p>
        </p:txBody>
      </p:sp>
    </p:spTree>
    <p:extLst>
      <p:ext uri="{BB962C8B-B14F-4D97-AF65-F5344CB8AC3E}">
        <p14:creationId xmlns:p14="http://schemas.microsoft.com/office/powerpoint/2010/main" val="1988210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4E8CD-D36A-430C-A6A4-4319E0E31D00}"/>
              </a:ext>
            </a:extLst>
          </p:cNvPr>
          <p:cNvSpPr>
            <a:spLocks noGrp="1"/>
          </p:cNvSpPr>
          <p:nvPr>
            <p:ph type="title"/>
          </p:nvPr>
        </p:nvSpPr>
        <p:spPr/>
        <p:txBody>
          <a:bodyPr/>
          <a:lstStyle/>
          <a:p>
            <a:r>
              <a:rPr lang="en-US" dirty="0"/>
              <a:t>Literature Survey 2:</a:t>
            </a:r>
          </a:p>
        </p:txBody>
      </p:sp>
      <p:sp>
        <p:nvSpPr>
          <p:cNvPr id="3" name="Content Placeholder 2">
            <a:extLst>
              <a:ext uri="{FF2B5EF4-FFF2-40B4-BE49-F238E27FC236}">
                <a16:creationId xmlns:a16="http://schemas.microsoft.com/office/drawing/2014/main" id="{6CFC4736-1BC1-4B51-93FA-CB99AACBEB8F}"/>
              </a:ext>
            </a:extLst>
          </p:cNvPr>
          <p:cNvSpPr>
            <a:spLocks noGrp="1"/>
          </p:cNvSpPr>
          <p:nvPr>
            <p:ph idx="1"/>
          </p:nvPr>
        </p:nvSpPr>
        <p:spPr/>
        <p:txBody>
          <a:bodyPr/>
          <a:lstStyle/>
          <a:p>
            <a:r>
              <a:rPr lang="en-US" dirty="0"/>
              <a:t>The author Alexander Galea’s takes the data from several different files (text files of collected data) are executed and the output is obtained as a sentiment.</a:t>
            </a:r>
          </a:p>
          <a:p>
            <a:endParaRPr lang="en-US" dirty="0"/>
          </a:p>
          <a:p>
            <a:r>
              <a:rPr lang="en-US" dirty="0"/>
              <a:t>In his work, author has described the pattern in which all the collected text file data is used for obtaining the result.</a:t>
            </a:r>
          </a:p>
        </p:txBody>
      </p:sp>
    </p:spTree>
    <p:extLst>
      <p:ext uri="{BB962C8B-B14F-4D97-AF65-F5344CB8AC3E}">
        <p14:creationId xmlns:p14="http://schemas.microsoft.com/office/powerpoint/2010/main" val="4097387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4563-5FA3-4FFC-97A8-888F8A8E9F33}"/>
              </a:ext>
            </a:extLst>
          </p:cNvPr>
          <p:cNvSpPr>
            <a:spLocks noGrp="1"/>
          </p:cNvSpPr>
          <p:nvPr>
            <p:ph type="title"/>
          </p:nvPr>
        </p:nvSpPr>
        <p:spPr/>
        <p:txBody>
          <a:bodyPr/>
          <a:lstStyle/>
          <a:p>
            <a:r>
              <a:rPr lang="en-US" dirty="0"/>
              <a:t>Requirements</a:t>
            </a:r>
          </a:p>
        </p:txBody>
      </p:sp>
      <p:sp>
        <p:nvSpPr>
          <p:cNvPr id="4" name="Text Placeholder 3">
            <a:extLst>
              <a:ext uri="{FF2B5EF4-FFF2-40B4-BE49-F238E27FC236}">
                <a16:creationId xmlns:a16="http://schemas.microsoft.com/office/drawing/2014/main" id="{5B6E1BD1-A2D8-48BF-A41B-15A5B1F0E5CC}"/>
              </a:ext>
            </a:extLst>
          </p:cNvPr>
          <p:cNvSpPr>
            <a:spLocks noGrp="1"/>
          </p:cNvSpPr>
          <p:nvPr>
            <p:ph type="body" idx="1"/>
          </p:nvPr>
        </p:nvSpPr>
        <p:spPr/>
        <p:txBody>
          <a:bodyPr/>
          <a:lstStyle/>
          <a:p>
            <a:r>
              <a:rPr lang="en-US" dirty="0"/>
              <a:t>Hardware requirements: </a:t>
            </a:r>
          </a:p>
          <a:p>
            <a:endParaRPr lang="en-US" dirty="0"/>
          </a:p>
        </p:txBody>
      </p:sp>
      <p:sp>
        <p:nvSpPr>
          <p:cNvPr id="3" name="Content Placeholder 2">
            <a:extLst>
              <a:ext uri="{FF2B5EF4-FFF2-40B4-BE49-F238E27FC236}">
                <a16:creationId xmlns:a16="http://schemas.microsoft.com/office/drawing/2014/main" id="{E12127B3-0F6A-4C2E-B92A-0AB57ECCC7C0}"/>
              </a:ext>
            </a:extLst>
          </p:cNvPr>
          <p:cNvSpPr>
            <a:spLocks noGrp="1"/>
          </p:cNvSpPr>
          <p:nvPr>
            <p:ph sz="half" idx="2"/>
          </p:nvPr>
        </p:nvSpPr>
        <p:spPr/>
        <p:txBody>
          <a:bodyPr>
            <a:normAutofit fontScale="92500" lnSpcReduction="10000"/>
          </a:bodyPr>
          <a:lstStyle/>
          <a:p>
            <a:pPr marL="0" indent="0">
              <a:buNone/>
            </a:pPr>
            <a:r>
              <a:rPr lang="en-US" sz="1800" dirty="0">
                <a:latin typeface="Times New Roman" panose="02020603050405020304" pitchFamily="18" charset="0"/>
                <a:cs typeface="Times New Roman" panose="02020603050405020304" pitchFamily="18" charset="0"/>
              </a:rPr>
              <a:t>Some of the essential hardware requirements for installing Hadoop are:</a:t>
            </a:r>
          </a:p>
          <a:p>
            <a:pPr marL="0" indent="0">
              <a:buNone/>
            </a:pPr>
            <a:r>
              <a:rPr lang="en-US" sz="1800" dirty="0">
                <a:latin typeface="Times New Roman" panose="02020603050405020304" pitchFamily="18" charset="0"/>
                <a:cs typeface="Times New Roman" panose="02020603050405020304" pitchFamily="18" charset="0"/>
              </a:rPr>
              <a:t>· Intel Core 2 Duo/Quad/hex/Octa or higher end 64 bit processor PC or Laptop (Minimum operating frequency of 2.5GHz)</a:t>
            </a:r>
          </a:p>
          <a:p>
            <a:pPr marL="0" indent="0">
              <a:buNone/>
            </a:pPr>
            <a:r>
              <a:rPr lang="en-US" sz="1800" dirty="0">
                <a:latin typeface="Times New Roman" panose="02020603050405020304" pitchFamily="18" charset="0"/>
                <a:cs typeface="Times New Roman" panose="02020603050405020304" pitchFamily="18" charset="0"/>
              </a:rPr>
              <a:t>· Hard Disk capacity of 1- 4TB.</a:t>
            </a:r>
          </a:p>
          <a:p>
            <a:pPr marL="0" indent="0">
              <a:buNone/>
            </a:pPr>
            <a:r>
              <a:rPr lang="en-US" sz="1800" dirty="0">
                <a:latin typeface="Times New Roman" panose="02020603050405020304" pitchFamily="18" charset="0"/>
                <a:cs typeface="Times New Roman" panose="02020603050405020304" pitchFamily="18" charset="0"/>
              </a:rPr>
              <a:t>· 16-512 GB RAM</a:t>
            </a:r>
          </a:p>
          <a:p>
            <a:pPr marL="0" indent="0">
              <a:buNone/>
            </a:pPr>
            <a:r>
              <a:rPr lang="en-US" sz="1800" dirty="0">
                <a:latin typeface="Times New Roman" panose="02020603050405020304" pitchFamily="18" charset="0"/>
                <a:cs typeface="Times New Roman" panose="02020603050405020304" pitchFamily="18" charset="0"/>
              </a:rPr>
              <a:t>· 10 Gigabit Ethernet or Bonded Gigabit Ethernet</a:t>
            </a:r>
          </a:p>
          <a:p>
            <a:pPr marL="0" indent="0">
              <a:buNone/>
            </a:pPr>
            <a:endParaRPr lang="en-US" dirty="0"/>
          </a:p>
        </p:txBody>
      </p:sp>
      <p:sp>
        <p:nvSpPr>
          <p:cNvPr id="5" name="Text Placeholder 4">
            <a:extLst>
              <a:ext uri="{FF2B5EF4-FFF2-40B4-BE49-F238E27FC236}">
                <a16:creationId xmlns:a16="http://schemas.microsoft.com/office/drawing/2014/main" id="{2C49ED53-22FE-4F5E-9BE0-2781AB971FCE}"/>
              </a:ext>
            </a:extLst>
          </p:cNvPr>
          <p:cNvSpPr>
            <a:spLocks noGrp="1"/>
          </p:cNvSpPr>
          <p:nvPr>
            <p:ph type="body" sz="quarter" idx="3"/>
          </p:nvPr>
        </p:nvSpPr>
        <p:spPr/>
        <p:txBody>
          <a:bodyPr/>
          <a:lstStyle/>
          <a:p>
            <a:r>
              <a:rPr lang="en-US" dirty="0"/>
              <a:t>Software requirements: </a:t>
            </a:r>
          </a:p>
          <a:p>
            <a:endParaRPr lang="en-US" dirty="0"/>
          </a:p>
        </p:txBody>
      </p:sp>
      <p:sp>
        <p:nvSpPr>
          <p:cNvPr id="6" name="Content Placeholder 5">
            <a:extLst>
              <a:ext uri="{FF2B5EF4-FFF2-40B4-BE49-F238E27FC236}">
                <a16:creationId xmlns:a16="http://schemas.microsoft.com/office/drawing/2014/main" id="{1424ECC5-32CE-4EF9-BF98-103B2D7B5601}"/>
              </a:ext>
            </a:extLst>
          </p:cNvPr>
          <p:cNvSpPr>
            <a:spLocks noGrp="1"/>
          </p:cNvSpPr>
          <p:nvPr>
            <p:ph sz="quarter" idx="4"/>
          </p:nvPr>
        </p:nvSpPr>
        <p:spPr/>
        <p:txBody>
          <a:bodyPr>
            <a:normAutofit fontScale="92500" lnSpcReduction="10000"/>
          </a:bodyPr>
          <a:lstStyle/>
          <a:p>
            <a:pPr marL="0" indent="0">
              <a:buNone/>
            </a:pPr>
            <a:r>
              <a:rPr lang="en-US" sz="1800" dirty="0">
                <a:latin typeface="Times New Roman" panose="02020603050405020304" pitchFamily="18" charset="0"/>
                <a:cs typeface="Times New Roman" panose="02020603050405020304" pitchFamily="18" charset="0"/>
              </a:rPr>
              <a:t>Some of the essential software requirements for installing Hadoop are</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VMware Workstation 12 Player </a:t>
            </a:r>
          </a:p>
          <a:p>
            <a:pPr marL="0" indent="0">
              <a:buNone/>
            </a:pPr>
            <a:r>
              <a:rPr lang="en-US" sz="1800" dirty="0">
                <a:latin typeface="Times New Roman" panose="02020603050405020304" pitchFamily="18" charset="0"/>
                <a:cs typeface="Times New Roman" panose="02020603050405020304" pitchFamily="18" charset="0"/>
              </a:rPr>
              <a:t>·</a:t>
            </a:r>
            <a:r>
              <a:rPr lang="en-US" dirty="0">
                <a:effectLst>
                  <a:outerShdw blurRad="38100" dist="19050" dir="2700000" algn="tl">
                    <a:schemeClr val="dk1">
                      <a:alpha val="40000"/>
                    </a:schemeClr>
                  </a:outerShdw>
                </a:effectLst>
              </a:rPr>
              <a:t> </a:t>
            </a:r>
            <a:r>
              <a:rPr lang="en-US" sz="1800" dirty="0">
                <a:effectLst>
                  <a:outerShdw blurRad="38100" dist="19050" dir="2700000" algn="tl">
                    <a:schemeClr val="dk1">
                      <a:alpha val="40000"/>
                    </a:schemeClr>
                  </a:outerShdw>
                </a:effectLst>
                <a:latin typeface="Times New Roman" panose="02020603050405020304" pitchFamily="18" charset="0"/>
                <a:cs typeface="Times New Roman" panose="02020603050405020304" pitchFamily="18" charset="0"/>
              </a:rPr>
              <a:t>Ubuntu version-17.04 for </a:t>
            </a:r>
            <a:r>
              <a:rPr lang="en-US" sz="1800" dirty="0" err="1">
                <a:effectLst>
                  <a:outerShdw blurRad="38100" dist="19050" dir="2700000" algn="tl">
                    <a:schemeClr val="dk1">
                      <a:alpha val="40000"/>
                    </a:schemeClr>
                  </a:outerShdw>
                </a:effectLst>
                <a:latin typeface="Times New Roman" panose="02020603050405020304" pitchFamily="18" charset="0"/>
                <a:cs typeface="Times New Roman" panose="02020603050405020304" pitchFamily="18" charset="0"/>
              </a:rPr>
              <a:t>hadoop</a:t>
            </a:r>
            <a:r>
              <a:rPr lang="en-US" sz="1800" dirty="0">
                <a:effectLst>
                  <a:outerShdw blurRad="38100" dist="19050" dir="2700000" algn="tl">
                    <a:schemeClr val="dk1">
                      <a:alpha val="40000"/>
                    </a:schemeClr>
                  </a:outerShdw>
                </a:effectLst>
                <a:latin typeface="Times New Roman" panose="02020603050405020304" pitchFamily="18" charset="0"/>
                <a:cs typeface="Times New Roman" panose="02020603050405020304" pitchFamily="18" charset="0"/>
              </a:rPr>
              <a:t> version-2.0</a:t>
            </a:r>
          </a:p>
          <a:p>
            <a:pPr marL="0" indent="0">
              <a:buNone/>
            </a:pPr>
            <a:r>
              <a:rPr lang="en-US" sz="1800" dirty="0">
                <a:latin typeface="Times New Roman" panose="02020603050405020304" pitchFamily="18" charset="0"/>
                <a:cs typeface="Times New Roman" panose="02020603050405020304" pitchFamily="18" charset="0"/>
              </a:rPr>
              <a:t>·  Python version-3.0.4</a:t>
            </a:r>
          </a:p>
          <a:p>
            <a:pPr marL="0" indent="0">
              <a:buNone/>
            </a:pP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Tweepy</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  Pandas</a:t>
            </a:r>
          </a:p>
          <a:p>
            <a:pPr marL="0" indent="0">
              <a:buNone/>
            </a:pP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Numpy</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Textblob</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  Matplotlib</a:t>
            </a:r>
          </a:p>
        </p:txBody>
      </p:sp>
    </p:spTree>
    <p:extLst>
      <p:ext uri="{BB962C8B-B14F-4D97-AF65-F5344CB8AC3E}">
        <p14:creationId xmlns:p14="http://schemas.microsoft.com/office/powerpoint/2010/main" val="535092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9B2502-2C9B-4EE7-94F1-7362AFF57161}"/>
              </a:ext>
            </a:extLst>
          </p:cNvPr>
          <p:cNvSpPr>
            <a:spLocks noGrp="1"/>
          </p:cNvSpPr>
          <p:nvPr>
            <p:ph type="title"/>
          </p:nvPr>
        </p:nvSpPr>
        <p:spPr>
          <a:xfrm>
            <a:off x="838200" y="365126"/>
            <a:ext cx="10515600" cy="1135136"/>
          </a:xfrm>
        </p:spPr>
        <p:txBody>
          <a:bodyPr>
            <a:normAutofit/>
          </a:bodyPr>
          <a:lstStyle/>
          <a:p>
            <a:r>
              <a:rPr lang="en-US" dirty="0"/>
              <a:t>Methodology: </a:t>
            </a:r>
            <a:r>
              <a:rPr lang="en-US" sz="4000" dirty="0"/>
              <a:t>The following are the steps</a:t>
            </a:r>
          </a:p>
        </p:txBody>
      </p:sp>
      <p:pic>
        <p:nvPicPr>
          <p:cNvPr id="5" name="Content Placeholder 4">
            <a:extLst>
              <a:ext uri="{FF2B5EF4-FFF2-40B4-BE49-F238E27FC236}">
                <a16:creationId xmlns:a16="http://schemas.microsoft.com/office/drawing/2014/main" id="{A27B7208-8AAB-4A8C-9E2C-2377E615D2BD}"/>
              </a:ext>
            </a:extLst>
          </p:cNvPr>
          <p:cNvPicPr>
            <a:picLocks noGrp="1"/>
          </p:cNvPicPr>
          <p:nvPr>
            <p:ph idx="1"/>
          </p:nvPr>
        </p:nvPicPr>
        <p:blipFill rotWithShape="1">
          <a:blip r:embed="rId2"/>
          <a:srcRect l="38462" t="52166" r="37981" b="27024"/>
          <a:stretch/>
        </p:blipFill>
        <p:spPr bwMode="auto">
          <a:xfrm>
            <a:off x="2776330" y="1690688"/>
            <a:ext cx="6639339" cy="3326294"/>
          </a:xfrm>
          <a:prstGeom prst="rect">
            <a:avLst/>
          </a:prstGeom>
          <a:ln>
            <a:noFill/>
          </a:ln>
          <a:extLst>
            <a:ext uri="{53640926-AAD7-44D8-BBD7-CCE9431645EC}">
              <a14:shadowObscured xmlns:a14="http://schemas.microsoft.com/office/drawing/2010/main"/>
            </a:ext>
          </a:extLst>
        </p:spPr>
      </p:pic>
      <p:sp>
        <p:nvSpPr>
          <p:cNvPr id="6" name="Rectangle 5">
            <a:extLst>
              <a:ext uri="{FF2B5EF4-FFF2-40B4-BE49-F238E27FC236}">
                <a16:creationId xmlns:a16="http://schemas.microsoft.com/office/drawing/2014/main" id="{9D59F197-99B3-4022-A570-DE9F7C9DB5C9}"/>
              </a:ext>
            </a:extLst>
          </p:cNvPr>
          <p:cNvSpPr/>
          <p:nvPr/>
        </p:nvSpPr>
        <p:spPr>
          <a:xfrm>
            <a:off x="5280990" y="4006015"/>
            <a:ext cx="1630018" cy="35780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00649C99-06EC-4414-9E03-8E722937356C}"/>
              </a:ext>
            </a:extLst>
          </p:cNvPr>
          <p:cNvSpPr/>
          <p:nvPr/>
        </p:nvSpPr>
        <p:spPr>
          <a:xfrm>
            <a:off x="2001448" y="5638798"/>
            <a:ext cx="8189101"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Figure 1: This figure represents the step-by-step process that is followed in my project </a:t>
            </a: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5932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E0002-AEB4-4026-A71F-6308E1DE9030}"/>
              </a:ext>
            </a:extLst>
          </p:cNvPr>
          <p:cNvSpPr>
            <a:spLocks noGrp="1"/>
          </p:cNvSpPr>
          <p:nvPr>
            <p:ph type="title"/>
          </p:nvPr>
        </p:nvSpPr>
        <p:spPr/>
        <p:txBody>
          <a:bodyPr/>
          <a:lstStyle/>
          <a:p>
            <a:r>
              <a:rPr lang="en-US" dirty="0"/>
              <a:t>Data collection :</a:t>
            </a:r>
          </a:p>
        </p:txBody>
      </p:sp>
      <p:sp>
        <p:nvSpPr>
          <p:cNvPr id="3" name="Content Placeholder 2">
            <a:extLst>
              <a:ext uri="{FF2B5EF4-FFF2-40B4-BE49-F238E27FC236}">
                <a16:creationId xmlns:a16="http://schemas.microsoft.com/office/drawing/2014/main" id="{A6A923DD-B59F-4C8D-8026-A2B96283E6E4}"/>
              </a:ext>
            </a:extLst>
          </p:cNvPr>
          <p:cNvSpPr>
            <a:spLocks noGrp="1"/>
          </p:cNvSpPr>
          <p:nvPr>
            <p:ph idx="1"/>
          </p:nvPr>
        </p:nvSpPr>
        <p:spPr>
          <a:xfrm>
            <a:off x="838200" y="1825625"/>
            <a:ext cx="10515600" cy="2905401"/>
          </a:xfrm>
        </p:spPr>
        <p:txBody>
          <a:bodyPr>
            <a:normAutofit lnSpcReduction="10000"/>
          </a:bodyPr>
          <a:lstStyle/>
          <a:p>
            <a:r>
              <a:rPr lang="en-US" sz="2000" dirty="0"/>
              <a:t>[1]We have to get the following API keys for data collection</a:t>
            </a:r>
          </a:p>
          <a:p>
            <a:pPr marL="0" indent="0">
              <a:buNone/>
            </a:pPr>
            <a:r>
              <a:rPr lang="en-US" sz="2000" dirty="0" err="1"/>
              <a:t>consumer_key</a:t>
            </a:r>
            <a:r>
              <a:rPr lang="en-US" sz="2000" dirty="0"/>
              <a:t>&lt;-„</a:t>
            </a:r>
            <a:r>
              <a:rPr lang="en-US" sz="2000" dirty="0" err="1"/>
              <a:t>xxxxxxxx</a:t>
            </a:r>
            <a:r>
              <a:rPr lang="en-US" sz="2000" dirty="0"/>
              <a:t>’</a:t>
            </a:r>
          </a:p>
          <a:p>
            <a:pPr marL="0" indent="0">
              <a:buNone/>
            </a:pPr>
            <a:r>
              <a:rPr lang="en-US" sz="2000" dirty="0"/>
              <a:t> </a:t>
            </a:r>
            <a:r>
              <a:rPr lang="en-US" sz="2000" dirty="0" err="1"/>
              <a:t>consumer_secret</a:t>
            </a:r>
            <a:r>
              <a:rPr lang="en-US" sz="2000" dirty="0"/>
              <a:t>&lt;-'</a:t>
            </a:r>
            <a:r>
              <a:rPr lang="en-US" sz="2000" dirty="0" err="1"/>
              <a:t>xxxxxxxxxxx</a:t>
            </a:r>
            <a:r>
              <a:rPr lang="en-US" sz="2000" dirty="0"/>
              <a:t>’ </a:t>
            </a:r>
          </a:p>
          <a:p>
            <a:pPr marL="0" indent="0">
              <a:buNone/>
            </a:pPr>
            <a:r>
              <a:rPr lang="en-US" sz="2000" dirty="0" err="1"/>
              <a:t>access_token</a:t>
            </a:r>
            <a:r>
              <a:rPr lang="en-US" sz="2000" dirty="0"/>
              <a:t>&lt;-'</a:t>
            </a:r>
            <a:r>
              <a:rPr lang="en-US" sz="2000" dirty="0" err="1"/>
              <a:t>xxxxxxxxxxxx</a:t>
            </a:r>
            <a:r>
              <a:rPr lang="en-US" sz="2000" dirty="0"/>
              <a:t>’ </a:t>
            </a:r>
          </a:p>
          <a:p>
            <a:pPr marL="0" indent="0">
              <a:buNone/>
            </a:pPr>
            <a:r>
              <a:rPr lang="en-US" sz="2000" dirty="0" err="1"/>
              <a:t>access_secret</a:t>
            </a:r>
            <a:r>
              <a:rPr lang="en-US" sz="2000" dirty="0"/>
              <a:t>&lt;-„</a:t>
            </a:r>
            <a:r>
              <a:rPr lang="en-US" sz="2000" dirty="0" err="1"/>
              <a:t>xxxxxxxxxxx</a:t>
            </a:r>
            <a:r>
              <a:rPr lang="en-US" sz="2000" dirty="0"/>
              <a:t>’</a:t>
            </a:r>
          </a:p>
          <a:p>
            <a:pPr marL="0" indent="0">
              <a:buNone/>
            </a:pPr>
            <a:endParaRPr lang="en-US" sz="2000" dirty="0"/>
          </a:p>
          <a:p>
            <a:r>
              <a:rPr lang="en-US" sz="2000" dirty="0"/>
              <a:t>This is done by creating a developer account in twitter </a:t>
            </a:r>
          </a:p>
          <a:p>
            <a:pPr marL="0" indent="0">
              <a:buNone/>
            </a:pPr>
            <a:endParaRPr lang="en-US" dirty="0"/>
          </a:p>
          <a:p>
            <a:pPr marL="0" indent="0">
              <a:buNone/>
            </a:pPr>
            <a:endParaRPr lang="en-US" dirty="0"/>
          </a:p>
        </p:txBody>
      </p:sp>
      <p:pic>
        <p:nvPicPr>
          <p:cNvPr id="7" name="Picture 6">
            <a:extLst>
              <a:ext uri="{FF2B5EF4-FFF2-40B4-BE49-F238E27FC236}">
                <a16:creationId xmlns:a16="http://schemas.microsoft.com/office/drawing/2014/main" id="{B6DB143D-64C3-4720-9161-D394255DA2AB}"/>
              </a:ext>
            </a:extLst>
          </p:cNvPr>
          <p:cNvPicPr>
            <a:picLocks noChangeAspect="1"/>
          </p:cNvPicPr>
          <p:nvPr/>
        </p:nvPicPr>
        <p:blipFill rotWithShape="1">
          <a:blip r:embed="rId2">
            <a:extLst>
              <a:ext uri="{28A0092B-C50C-407E-A947-70E740481C1C}">
                <a14:useLocalDpi xmlns:a14="http://schemas.microsoft.com/office/drawing/2010/main" val="0"/>
              </a:ext>
            </a:extLst>
          </a:blip>
          <a:srcRect t="1" r="-394" b="47084"/>
          <a:stretch/>
        </p:blipFill>
        <p:spPr>
          <a:xfrm>
            <a:off x="2637942" y="4865963"/>
            <a:ext cx="6943380" cy="766211"/>
          </a:xfrm>
          <a:prstGeom prst="rect">
            <a:avLst/>
          </a:prstGeom>
        </p:spPr>
      </p:pic>
      <p:sp>
        <p:nvSpPr>
          <p:cNvPr id="8" name="Rectangle 7">
            <a:extLst>
              <a:ext uri="{FF2B5EF4-FFF2-40B4-BE49-F238E27FC236}">
                <a16:creationId xmlns:a16="http://schemas.microsoft.com/office/drawing/2014/main" id="{8CD9B0E7-0B5B-4717-9C14-75AD24EE920F}"/>
              </a:ext>
            </a:extLst>
          </p:cNvPr>
          <p:cNvSpPr/>
          <p:nvPr/>
        </p:nvSpPr>
        <p:spPr>
          <a:xfrm>
            <a:off x="1568867" y="5867357"/>
            <a:ext cx="9266319"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Figure 2 : This figure represents the command for storing the collected data into a text file directly</a:t>
            </a:r>
          </a:p>
        </p:txBody>
      </p:sp>
    </p:spTree>
    <p:extLst>
      <p:ext uri="{BB962C8B-B14F-4D97-AF65-F5344CB8AC3E}">
        <p14:creationId xmlns:p14="http://schemas.microsoft.com/office/powerpoint/2010/main" val="480884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C048E26-1E6D-4A77-9CEB-61D862568A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175" y="128784"/>
            <a:ext cx="11080073" cy="5198590"/>
          </a:xfrm>
          <a:prstGeom prst="rect">
            <a:avLst/>
          </a:prstGeom>
        </p:spPr>
      </p:pic>
      <p:sp>
        <p:nvSpPr>
          <p:cNvPr id="3" name="Rectangle 2">
            <a:extLst>
              <a:ext uri="{FF2B5EF4-FFF2-40B4-BE49-F238E27FC236}">
                <a16:creationId xmlns:a16="http://schemas.microsoft.com/office/drawing/2014/main" id="{8D0E69A1-1438-4E6E-8CD7-990ED9664E75}"/>
              </a:ext>
            </a:extLst>
          </p:cNvPr>
          <p:cNvSpPr/>
          <p:nvPr/>
        </p:nvSpPr>
        <p:spPr>
          <a:xfrm>
            <a:off x="2341292" y="5604518"/>
            <a:ext cx="7509428"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Figure 3 : This figure represents the screenshot of data collection in a text file</a:t>
            </a: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3617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7B489-47A0-4936-A405-85ED4A8709B8}"/>
              </a:ext>
            </a:extLst>
          </p:cNvPr>
          <p:cNvSpPr>
            <a:spLocks noGrp="1"/>
          </p:cNvSpPr>
          <p:nvPr>
            <p:ph type="title"/>
          </p:nvPr>
        </p:nvSpPr>
        <p:spPr>
          <a:xfrm>
            <a:off x="838200" y="134698"/>
            <a:ext cx="10515600" cy="1384183"/>
          </a:xfrm>
        </p:spPr>
        <p:txBody>
          <a:bodyPr/>
          <a:lstStyle/>
          <a:p>
            <a:r>
              <a:rPr lang="en-US" dirty="0"/>
              <a:t>Data Processing , Data Filtering and Extraction:</a:t>
            </a:r>
          </a:p>
        </p:txBody>
      </p:sp>
      <p:sp>
        <p:nvSpPr>
          <p:cNvPr id="3" name="Content Placeholder 2">
            <a:extLst>
              <a:ext uri="{FF2B5EF4-FFF2-40B4-BE49-F238E27FC236}">
                <a16:creationId xmlns:a16="http://schemas.microsoft.com/office/drawing/2014/main" id="{9C119C88-A60B-42B5-B01C-C060FD439F0B}"/>
              </a:ext>
            </a:extLst>
          </p:cNvPr>
          <p:cNvSpPr>
            <a:spLocks noGrp="1"/>
          </p:cNvSpPr>
          <p:nvPr>
            <p:ph idx="1"/>
          </p:nvPr>
        </p:nvSpPr>
        <p:spPr>
          <a:xfrm>
            <a:off x="838200" y="1614461"/>
            <a:ext cx="10515600" cy="861391"/>
          </a:xfrm>
        </p:spPr>
        <p:txBody>
          <a:bodyPr>
            <a:normAutofit/>
          </a:bodyPr>
          <a:lstStyle/>
          <a:p>
            <a:r>
              <a:rPr lang="en-US" sz="2000" dirty="0"/>
              <a:t>We process the collected data in the previous step using python code.</a:t>
            </a:r>
          </a:p>
          <a:p>
            <a:r>
              <a:rPr lang="en-US" sz="2000" dirty="0"/>
              <a:t>The filtering and extraction of data that we need is also done in the same code.</a:t>
            </a:r>
          </a:p>
        </p:txBody>
      </p:sp>
      <p:pic>
        <p:nvPicPr>
          <p:cNvPr id="19" name="Picture 18">
            <a:extLst>
              <a:ext uri="{FF2B5EF4-FFF2-40B4-BE49-F238E27FC236}">
                <a16:creationId xmlns:a16="http://schemas.microsoft.com/office/drawing/2014/main" id="{C837F75B-9042-45EE-BA72-245BB6D74A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2770" y="2673323"/>
            <a:ext cx="5746459" cy="3063875"/>
          </a:xfrm>
          <a:prstGeom prst="rect">
            <a:avLst/>
          </a:prstGeom>
        </p:spPr>
      </p:pic>
      <p:sp>
        <p:nvSpPr>
          <p:cNvPr id="25" name="Rectangle 24">
            <a:extLst>
              <a:ext uri="{FF2B5EF4-FFF2-40B4-BE49-F238E27FC236}">
                <a16:creationId xmlns:a16="http://schemas.microsoft.com/office/drawing/2014/main" id="{9A093790-BCC3-4C05-8E83-596147153623}"/>
              </a:ext>
            </a:extLst>
          </p:cNvPr>
          <p:cNvSpPr/>
          <p:nvPr/>
        </p:nvSpPr>
        <p:spPr>
          <a:xfrm>
            <a:off x="4492515" y="5797667"/>
            <a:ext cx="3206967" cy="923330"/>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Figure 4 : This figure represents </a:t>
            </a:r>
          </a:p>
          <a:p>
            <a:pPr algn="ctr"/>
            <a:r>
              <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the filtering of tweets </a:t>
            </a:r>
          </a:p>
          <a:p>
            <a:pPr algn="ctr"/>
            <a:r>
              <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from the collected data</a:t>
            </a:r>
          </a:p>
        </p:txBody>
      </p:sp>
    </p:spTree>
    <p:extLst>
      <p:ext uri="{BB962C8B-B14F-4D97-AF65-F5344CB8AC3E}">
        <p14:creationId xmlns:p14="http://schemas.microsoft.com/office/powerpoint/2010/main" val="2197861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2FCAF-5249-419B-8D75-4D5C20E0CD92}"/>
              </a:ext>
            </a:extLst>
          </p:cNvPr>
          <p:cNvSpPr>
            <a:spLocks noGrp="1"/>
          </p:cNvSpPr>
          <p:nvPr>
            <p:ph type="title"/>
          </p:nvPr>
        </p:nvSpPr>
        <p:spPr/>
        <p:txBody>
          <a:bodyPr/>
          <a:lstStyle/>
          <a:p>
            <a:r>
              <a:rPr lang="en-US" dirty="0"/>
              <a:t>Classification:</a:t>
            </a:r>
          </a:p>
        </p:txBody>
      </p:sp>
      <p:sp>
        <p:nvSpPr>
          <p:cNvPr id="3" name="Content Placeholder 2">
            <a:extLst>
              <a:ext uri="{FF2B5EF4-FFF2-40B4-BE49-F238E27FC236}">
                <a16:creationId xmlns:a16="http://schemas.microsoft.com/office/drawing/2014/main" id="{B196BD28-8C7A-4956-96A0-D0AD7AE64B6F}"/>
              </a:ext>
            </a:extLst>
          </p:cNvPr>
          <p:cNvSpPr>
            <a:spLocks noGrp="1"/>
          </p:cNvSpPr>
          <p:nvPr>
            <p:ph idx="1"/>
          </p:nvPr>
        </p:nvSpPr>
        <p:spPr>
          <a:xfrm>
            <a:off x="838200" y="1830989"/>
            <a:ext cx="10515600" cy="652531"/>
          </a:xfrm>
        </p:spPr>
        <p:txBody>
          <a:bodyPr>
            <a:normAutofit lnSpcReduction="10000"/>
          </a:bodyPr>
          <a:lstStyle/>
          <a:p>
            <a:r>
              <a:rPr lang="en-US" sz="2000" dirty="0"/>
              <a:t>The text data that we now have is classified finding polarity of each tweet that has been extracted from the collected data.</a:t>
            </a:r>
          </a:p>
          <a:p>
            <a:endParaRPr lang="en-US" dirty="0"/>
          </a:p>
        </p:txBody>
      </p:sp>
      <p:pic>
        <p:nvPicPr>
          <p:cNvPr id="6" name="Picture 5">
            <a:extLst>
              <a:ext uri="{FF2B5EF4-FFF2-40B4-BE49-F238E27FC236}">
                <a16:creationId xmlns:a16="http://schemas.microsoft.com/office/drawing/2014/main" id="{CDB4E5FD-0985-4D63-BAA2-67C5A028B4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1677" y="2623821"/>
            <a:ext cx="5228644" cy="3063875"/>
          </a:xfrm>
          <a:prstGeom prst="rect">
            <a:avLst/>
          </a:prstGeom>
        </p:spPr>
      </p:pic>
      <p:sp>
        <p:nvSpPr>
          <p:cNvPr id="7" name="Rectangle 6">
            <a:extLst>
              <a:ext uri="{FF2B5EF4-FFF2-40B4-BE49-F238E27FC236}">
                <a16:creationId xmlns:a16="http://schemas.microsoft.com/office/drawing/2014/main" id="{7F584F84-39B2-4D3B-84D2-D35BA931A1CE}"/>
              </a:ext>
            </a:extLst>
          </p:cNvPr>
          <p:cNvSpPr/>
          <p:nvPr/>
        </p:nvSpPr>
        <p:spPr>
          <a:xfrm>
            <a:off x="3012462" y="5934670"/>
            <a:ext cx="6167073" cy="923330"/>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Figure 5: This figure represents the commands:</a:t>
            </a:r>
          </a:p>
          <a:p>
            <a:pPr algn="just"/>
            <a:r>
              <a:rPr lang="en-US"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dirty="0" err="1">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a:t>
            </a:r>
            <a:r>
              <a:rPr lang="en-US"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for changing the directory (“cd”)</a:t>
            </a:r>
          </a:p>
          <a:p>
            <a:pPr algn="just"/>
            <a:r>
              <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(ii) for running the python file for classifying the processed data </a:t>
            </a:r>
          </a:p>
        </p:txBody>
      </p:sp>
    </p:spTree>
    <p:extLst>
      <p:ext uri="{BB962C8B-B14F-4D97-AF65-F5344CB8AC3E}">
        <p14:creationId xmlns:p14="http://schemas.microsoft.com/office/powerpoint/2010/main" val="2385328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4E49B-06DE-4751-807D-BB0CE97A5FA3}"/>
              </a:ext>
            </a:extLst>
          </p:cNvPr>
          <p:cNvSpPr>
            <a:spLocks noGrp="1"/>
          </p:cNvSpPr>
          <p:nvPr>
            <p:ph type="title"/>
          </p:nvPr>
        </p:nvSpPr>
        <p:spPr/>
        <p:txBody>
          <a:bodyPr/>
          <a:lstStyle/>
          <a:p>
            <a:r>
              <a:rPr lang="en-US" dirty="0"/>
              <a:t>Sentiment Analysis:</a:t>
            </a:r>
          </a:p>
        </p:txBody>
      </p:sp>
      <p:sp>
        <p:nvSpPr>
          <p:cNvPr id="3" name="Content Placeholder 2">
            <a:extLst>
              <a:ext uri="{FF2B5EF4-FFF2-40B4-BE49-F238E27FC236}">
                <a16:creationId xmlns:a16="http://schemas.microsoft.com/office/drawing/2014/main" id="{B6283667-CD54-4FC6-86EC-D8BE7FFFD785}"/>
              </a:ext>
            </a:extLst>
          </p:cNvPr>
          <p:cNvSpPr>
            <a:spLocks noGrp="1"/>
          </p:cNvSpPr>
          <p:nvPr>
            <p:ph idx="1"/>
          </p:nvPr>
        </p:nvSpPr>
        <p:spPr>
          <a:xfrm>
            <a:off x="838199" y="1825625"/>
            <a:ext cx="10707689" cy="480253"/>
          </a:xfrm>
        </p:spPr>
        <p:txBody>
          <a:bodyPr>
            <a:normAutofit fontScale="70000" lnSpcReduction="20000"/>
          </a:bodyPr>
          <a:lstStyle/>
          <a:p>
            <a:r>
              <a:rPr lang="en-US" sz="2000" dirty="0"/>
              <a:t>The classified data is now analyzed using the </a:t>
            </a:r>
            <a:r>
              <a:rPr lang="en-US" sz="2000" dirty="0" err="1"/>
              <a:t>Naive’s</a:t>
            </a:r>
            <a:r>
              <a:rPr lang="en-US" sz="2000" dirty="0"/>
              <a:t> Bayes algorithm </a:t>
            </a:r>
            <a:r>
              <a:rPr lang="en-US" sz="2000"/>
              <a:t>for classifying data </a:t>
            </a:r>
            <a:r>
              <a:rPr lang="en-US" sz="2000" dirty="0"/>
              <a:t>into positive, negative and neutral tweets.</a:t>
            </a:r>
          </a:p>
        </p:txBody>
      </p:sp>
      <p:pic>
        <p:nvPicPr>
          <p:cNvPr id="5" name="Picture 4">
            <a:extLst>
              <a:ext uri="{FF2B5EF4-FFF2-40B4-BE49-F238E27FC236}">
                <a16:creationId xmlns:a16="http://schemas.microsoft.com/office/drawing/2014/main" id="{8B0B9E20-1CEC-4E09-A251-D708C762DF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7639" y="2691338"/>
            <a:ext cx="5856722" cy="2699425"/>
          </a:xfrm>
          <a:prstGeom prst="rect">
            <a:avLst/>
          </a:prstGeom>
        </p:spPr>
      </p:pic>
      <p:sp>
        <p:nvSpPr>
          <p:cNvPr id="6" name="Rectangle 5">
            <a:extLst>
              <a:ext uri="{FF2B5EF4-FFF2-40B4-BE49-F238E27FC236}">
                <a16:creationId xmlns:a16="http://schemas.microsoft.com/office/drawing/2014/main" id="{2C29CE29-F5AE-42E0-A993-CF16847133D7}"/>
              </a:ext>
            </a:extLst>
          </p:cNvPr>
          <p:cNvSpPr/>
          <p:nvPr/>
        </p:nvSpPr>
        <p:spPr>
          <a:xfrm>
            <a:off x="3033783" y="5776223"/>
            <a:ext cx="6124433"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Figure 6 : This figure represents the sentiment of the analysis </a:t>
            </a: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4200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7F5EA-50C7-495B-B08D-1A9FB13F3FC9}"/>
              </a:ext>
            </a:extLst>
          </p:cNvPr>
          <p:cNvSpPr>
            <a:spLocks noGrp="1"/>
          </p:cNvSpPr>
          <p:nvPr>
            <p:ph type="title"/>
          </p:nvPr>
        </p:nvSpPr>
        <p:spPr>
          <a:xfrm>
            <a:off x="838200" y="365125"/>
            <a:ext cx="10515600" cy="1100277"/>
          </a:xfrm>
        </p:spPr>
        <p:txBody>
          <a:bodyPr/>
          <a:lstStyle/>
          <a:p>
            <a:r>
              <a:rPr lang="en-US" dirty="0"/>
              <a:t>Results and Analysis:</a:t>
            </a:r>
          </a:p>
        </p:txBody>
      </p:sp>
      <p:pic>
        <p:nvPicPr>
          <p:cNvPr id="11" name="Content Placeholder 10">
            <a:extLst>
              <a:ext uri="{FF2B5EF4-FFF2-40B4-BE49-F238E27FC236}">
                <a16:creationId xmlns:a16="http://schemas.microsoft.com/office/drawing/2014/main" id="{CFAA5736-A5E4-4F97-B9D3-764D1B59A7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78023" y="1465402"/>
            <a:ext cx="6103207" cy="4599954"/>
          </a:xfrm>
        </p:spPr>
      </p:pic>
      <p:sp>
        <p:nvSpPr>
          <p:cNvPr id="12" name="Rectangle 11">
            <a:extLst>
              <a:ext uri="{FF2B5EF4-FFF2-40B4-BE49-F238E27FC236}">
                <a16:creationId xmlns:a16="http://schemas.microsoft.com/office/drawing/2014/main" id="{4160A3F9-6947-4511-B842-1D00E45AE6FF}"/>
              </a:ext>
            </a:extLst>
          </p:cNvPr>
          <p:cNvSpPr/>
          <p:nvPr/>
        </p:nvSpPr>
        <p:spPr>
          <a:xfrm>
            <a:off x="3179482" y="6065356"/>
            <a:ext cx="5500288"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Figure 7 : This pie chart represents the Sentiment on BJP </a:t>
            </a:r>
          </a:p>
        </p:txBody>
      </p:sp>
    </p:spTree>
    <p:extLst>
      <p:ext uri="{BB962C8B-B14F-4D97-AF65-F5344CB8AC3E}">
        <p14:creationId xmlns:p14="http://schemas.microsoft.com/office/powerpoint/2010/main" val="2771025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16C100-A1F7-478C-AB71-93276E6528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3528" y="630930"/>
            <a:ext cx="7424943" cy="5596139"/>
          </a:xfrm>
          <a:prstGeom prst="rect">
            <a:avLst/>
          </a:prstGeom>
        </p:spPr>
      </p:pic>
      <p:sp>
        <p:nvSpPr>
          <p:cNvPr id="4" name="Rectangle 3">
            <a:extLst>
              <a:ext uri="{FF2B5EF4-FFF2-40B4-BE49-F238E27FC236}">
                <a16:creationId xmlns:a16="http://schemas.microsoft.com/office/drawing/2014/main" id="{23E9C761-48CD-4534-81C9-E3F891D5473A}"/>
              </a:ext>
            </a:extLst>
          </p:cNvPr>
          <p:cNvSpPr/>
          <p:nvPr/>
        </p:nvSpPr>
        <p:spPr>
          <a:xfrm>
            <a:off x="3315879" y="5857737"/>
            <a:ext cx="5560241"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Figure 8 : This pie chart represents the Sentiment on TDP </a:t>
            </a:r>
          </a:p>
        </p:txBody>
      </p:sp>
    </p:spTree>
    <p:extLst>
      <p:ext uri="{BB962C8B-B14F-4D97-AF65-F5344CB8AC3E}">
        <p14:creationId xmlns:p14="http://schemas.microsoft.com/office/powerpoint/2010/main" val="233180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565BB4-DFF5-40F4-89D9-D6833BBACF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3528" y="630930"/>
            <a:ext cx="7424943" cy="5596139"/>
          </a:xfrm>
          <a:prstGeom prst="rect">
            <a:avLst/>
          </a:prstGeom>
        </p:spPr>
      </p:pic>
      <p:sp>
        <p:nvSpPr>
          <p:cNvPr id="4" name="Rectangle 3">
            <a:extLst>
              <a:ext uri="{FF2B5EF4-FFF2-40B4-BE49-F238E27FC236}">
                <a16:creationId xmlns:a16="http://schemas.microsoft.com/office/drawing/2014/main" id="{3141B26D-9BF7-41D8-A4C4-1A7308BF6A5F}"/>
              </a:ext>
            </a:extLst>
          </p:cNvPr>
          <p:cNvSpPr/>
          <p:nvPr/>
        </p:nvSpPr>
        <p:spPr>
          <a:xfrm>
            <a:off x="3170615" y="5857737"/>
            <a:ext cx="5850769"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Figure 9 : This pie chart represents the Sentiment on YSRCP </a:t>
            </a:r>
          </a:p>
        </p:txBody>
      </p:sp>
    </p:spTree>
    <p:extLst>
      <p:ext uri="{BB962C8B-B14F-4D97-AF65-F5344CB8AC3E}">
        <p14:creationId xmlns:p14="http://schemas.microsoft.com/office/powerpoint/2010/main" val="30405622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77E5E0-636B-4469-B1C4-29F570809F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3528" y="630930"/>
            <a:ext cx="7424943" cy="5596139"/>
          </a:xfrm>
          <a:prstGeom prst="rect">
            <a:avLst/>
          </a:prstGeom>
        </p:spPr>
      </p:pic>
      <p:sp>
        <p:nvSpPr>
          <p:cNvPr id="4" name="Rectangle 3">
            <a:extLst>
              <a:ext uri="{FF2B5EF4-FFF2-40B4-BE49-F238E27FC236}">
                <a16:creationId xmlns:a16="http://schemas.microsoft.com/office/drawing/2014/main" id="{49D57D22-7620-4480-AE9F-3C70C1021C17}"/>
              </a:ext>
            </a:extLst>
          </p:cNvPr>
          <p:cNvSpPr/>
          <p:nvPr/>
        </p:nvSpPr>
        <p:spPr>
          <a:xfrm>
            <a:off x="3288147" y="5857737"/>
            <a:ext cx="5615704"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Figure 10 : This pie chart represents the Sentiment on JSP </a:t>
            </a:r>
          </a:p>
        </p:txBody>
      </p:sp>
    </p:spTree>
    <p:extLst>
      <p:ext uri="{BB962C8B-B14F-4D97-AF65-F5344CB8AC3E}">
        <p14:creationId xmlns:p14="http://schemas.microsoft.com/office/powerpoint/2010/main" val="2083416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9F8B4F-E8DF-4462-9B52-D7ED9AEC89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3528" y="630930"/>
            <a:ext cx="7424943" cy="5596139"/>
          </a:xfrm>
          <a:prstGeom prst="rect">
            <a:avLst/>
          </a:prstGeom>
        </p:spPr>
      </p:pic>
      <p:sp>
        <p:nvSpPr>
          <p:cNvPr id="4" name="Rectangle 3">
            <a:extLst>
              <a:ext uri="{FF2B5EF4-FFF2-40B4-BE49-F238E27FC236}">
                <a16:creationId xmlns:a16="http://schemas.microsoft.com/office/drawing/2014/main" id="{C2199C57-4B6D-4966-B941-32B0B1C565F5}"/>
              </a:ext>
            </a:extLst>
          </p:cNvPr>
          <p:cNvSpPr/>
          <p:nvPr/>
        </p:nvSpPr>
        <p:spPr>
          <a:xfrm>
            <a:off x="2669388" y="6042403"/>
            <a:ext cx="6853222"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Figure 11 : This pie chart shows the next leader the has been predicted </a:t>
            </a:r>
          </a:p>
        </p:txBody>
      </p:sp>
    </p:spTree>
    <p:extLst>
      <p:ext uri="{BB962C8B-B14F-4D97-AF65-F5344CB8AC3E}">
        <p14:creationId xmlns:p14="http://schemas.microsoft.com/office/powerpoint/2010/main" val="46097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ED886-A0A0-438D-908D-C8D2D354E1A1}"/>
              </a:ext>
            </a:extLst>
          </p:cNvPr>
          <p:cNvSpPr>
            <a:spLocks noGrp="1"/>
          </p:cNvSpPr>
          <p:nvPr>
            <p:ph type="title"/>
          </p:nvPr>
        </p:nvSpPr>
        <p:spPr/>
        <p:txBody>
          <a:bodyPr/>
          <a:lstStyle/>
          <a:p>
            <a:r>
              <a:rPr lang="en-US" dirty="0"/>
              <a:t>Conclusion</a:t>
            </a:r>
          </a:p>
        </p:txBody>
      </p:sp>
      <p:sp>
        <p:nvSpPr>
          <p:cNvPr id="4" name="Content Placeholder 3">
            <a:extLst>
              <a:ext uri="{FF2B5EF4-FFF2-40B4-BE49-F238E27FC236}">
                <a16:creationId xmlns:a16="http://schemas.microsoft.com/office/drawing/2014/main" id="{F572DC71-CECD-420D-88E3-3312F3C5F0E6}"/>
              </a:ext>
            </a:extLst>
          </p:cNvPr>
          <p:cNvSpPr>
            <a:spLocks noGrp="1"/>
          </p:cNvSpPr>
          <p:nvPr>
            <p:ph idx="1"/>
          </p:nvPr>
        </p:nvSpPr>
        <p:spPr/>
        <p:txBody>
          <a:bodyPr/>
          <a:lstStyle/>
          <a:p>
            <a:r>
              <a:rPr lang="en-US" dirty="0"/>
              <a:t>The sentimental analysis project helps in analyzing the result from a large collection of data using big data. </a:t>
            </a:r>
          </a:p>
          <a:p>
            <a:r>
              <a:rPr lang="en-US" dirty="0"/>
              <a:t>Sentiment analysis is an efficient method for generating accurate results.</a:t>
            </a:r>
          </a:p>
          <a:p>
            <a:pPr marL="0" indent="0">
              <a:buNone/>
            </a:pPr>
            <a:endParaRPr lang="en-US" dirty="0"/>
          </a:p>
        </p:txBody>
      </p:sp>
    </p:spTree>
    <p:extLst>
      <p:ext uri="{BB962C8B-B14F-4D97-AF65-F5344CB8AC3E}">
        <p14:creationId xmlns:p14="http://schemas.microsoft.com/office/powerpoint/2010/main" val="4110894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FEBCC-EA75-49A5-94E5-52D478BA1556}"/>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8484F880-E026-4397-9A0D-F2918004D021}"/>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[1] Adil </a:t>
            </a:r>
            <a:r>
              <a:rPr lang="en-US" dirty="0" err="1">
                <a:latin typeface="Times New Roman" panose="02020603050405020304" pitchFamily="18" charset="0"/>
                <a:cs typeface="Times New Roman" panose="02020603050405020304" pitchFamily="18" charset="0"/>
              </a:rPr>
              <a:t>Moujahid</a:t>
            </a:r>
            <a:r>
              <a:rPr lang="en-US" dirty="0">
                <a:latin typeface="Times New Roman" panose="02020603050405020304" pitchFamily="18" charset="0"/>
                <a:cs typeface="Times New Roman" panose="02020603050405020304" pitchFamily="18" charset="0"/>
              </a:rPr>
              <a:t> – An Introduction to text mining using twitter streaming API and Python – Published Mon 21 July 2014</a:t>
            </a:r>
          </a:p>
          <a:p>
            <a:endParaRPr lang="en-US" dirty="0"/>
          </a:p>
          <a:p>
            <a:r>
              <a:rPr lang="en-US" dirty="0"/>
              <a:t>[2] Alexander Galea-</a:t>
            </a:r>
            <a:r>
              <a:rPr lang="en-US" cap="all" dirty="0"/>
              <a:t>COLLECTING TWITTER DATA WITH PYTHON.</a:t>
            </a:r>
          </a:p>
          <a:p>
            <a:endParaRPr lang="en-US" dirty="0"/>
          </a:p>
        </p:txBody>
      </p:sp>
    </p:spTree>
    <p:extLst>
      <p:ext uri="{BB962C8B-B14F-4D97-AF65-F5344CB8AC3E}">
        <p14:creationId xmlns:p14="http://schemas.microsoft.com/office/powerpoint/2010/main" val="3510297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6803A-1D5B-4125-894C-917F7C823A83}"/>
              </a:ext>
            </a:extLst>
          </p:cNvPr>
          <p:cNvSpPr>
            <a:spLocks noGrp="1"/>
          </p:cNvSpPr>
          <p:nvPr>
            <p:ph type="title"/>
          </p:nvPr>
        </p:nvSpPr>
        <p:spPr>
          <a:xfrm>
            <a:off x="838200" y="2766218"/>
            <a:ext cx="10515600" cy="1325563"/>
          </a:xfrm>
        </p:spPr>
        <p:txBody>
          <a:bodyPr>
            <a:noAutofit/>
          </a:bodyPr>
          <a:lstStyle/>
          <a:p>
            <a:pPr algn="ctr"/>
            <a:r>
              <a:rPr lang="en-US" sz="9600" dirty="0"/>
              <a:t>THANK YOU</a:t>
            </a:r>
          </a:p>
        </p:txBody>
      </p:sp>
    </p:spTree>
    <p:extLst>
      <p:ext uri="{BB962C8B-B14F-4D97-AF65-F5344CB8AC3E}">
        <p14:creationId xmlns:p14="http://schemas.microsoft.com/office/powerpoint/2010/main" val="6393935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547</TotalTime>
  <Words>785</Words>
  <Application>Microsoft Office PowerPoint</Application>
  <PresentationFormat>Widescreen</PresentationFormat>
  <Paragraphs>94</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Century Gothic</vt:lpstr>
      <vt:lpstr>Times New Roman</vt:lpstr>
      <vt:lpstr>Wingdings</vt:lpstr>
      <vt:lpstr>Wingdings 3</vt:lpstr>
      <vt:lpstr>Ion</vt:lpstr>
      <vt:lpstr>Finding Next Leader  </vt:lpstr>
      <vt:lpstr>Abstract </vt:lpstr>
      <vt:lpstr>Topics</vt:lpstr>
      <vt:lpstr>Introduction</vt:lpstr>
      <vt:lpstr>Motivation: </vt:lpstr>
      <vt:lpstr>Literature Survey 1:</vt:lpstr>
      <vt:lpstr>Literature Survey 2:</vt:lpstr>
      <vt:lpstr>Requirements</vt:lpstr>
      <vt:lpstr>Methodology: The following are the steps</vt:lpstr>
      <vt:lpstr>Data collection :</vt:lpstr>
      <vt:lpstr>PowerPoint Presentation</vt:lpstr>
      <vt:lpstr>Data Processing , Data Filtering and Extraction:</vt:lpstr>
      <vt:lpstr>Classification:</vt:lpstr>
      <vt:lpstr>Sentiment Analysis:</vt:lpstr>
      <vt:lpstr>Results and Analysis:</vt:lpstr>
      <vt:lpstr>PowerPoint Presentation</vt:lpstr>
      <vt:lpstr>PowerPoint Presentation</vt:lpstr>
      <vt:lpstr>PowerPoint Presentation</vt:lpstr>
      <vt:lpstr>PowerPoint Presentation</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Finding Next Leader</dc:title>
  <dc:creator>Ramya Dulla</dc:creator>
  <cp:lastModifiedBy>Ramya Dulla</cp:lastModifiedBy>
  <cp:revision>58</cp:revision>
  <dcterms:created xsi:type="dcterms:W3CDTF">2019-02-27T15:41:46Z</dcterms:created>
  <dcterms:modified xsi:type="dcterms:W3CDTF">2019-03-06T07:46:06Z</dcterms:modified>
</cp:coreProperties>
</file>